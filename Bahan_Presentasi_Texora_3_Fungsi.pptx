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PT. Texora Visi Prima  •  Texora Suite  •  Okt 2026                                          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PT. TEXORA VISI PRIMA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10642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Satu Platform, Tiga Fungsi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94A3B8"/>
                </a:solidFill>
              </a:defRPr>
            </a:pPr>
            <a:r>
              <a:t>Web Publish  •  E-Commerce  •  Aplikasi Transaksi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0624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94A3B8"/>
                </a:solidFill>
              </a:defRPr>
            </a:pPr>
            <a:r>
              <a:t>Dari etalase publik sampai dapur operasional — semua terhubung dalam satu sistem.</a:t>
            </a:r>
          </a:p>
          <a:p>
            <a:pPr>
              <a:spcBef>
                <a:spcPts val="1400"/>
              </a:spcBef>
            </a:pPr>
            <a:r>
              <a:rPr sz="1300">
                <a:solidFill>
                  <a:srgbClr val="94A3B8"/>
                </a:solidFill>
              </a:rPr>
              <a:t>Bahan presentasi  •  Oktober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PT. Texora Visi Prima  •  Texora Suite  •  Okt 2026                                          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02  •  LATAR BELAKANG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Kenapa satu web punya 3 fungsi?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Menjawab masalah klasik: info tercecer, order manual, operasional tidak tercatat.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3474720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011680"/>
            <a:ext cx="3474720" cy="8890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4028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8BDF8"/>
                </a:solidFill>
              </a:rPr>
              <a:t>MASALAH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FFFFFF"/>
                </a:solidFill>
              </a:rPr>
              <a:t>Sebelum terintegrasi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</a:rPr>
              <a:t>•  Katalog &amp; harga tersebar di chat / brosur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</a:rPr>
              <a:t>•  Order dicatat manual, rawan salah &amp; lambat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</a:rPr>
              <a:t>•  Stok, SPK, dan tagihan tidak terpantau real-time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011680"/>
            <a:ext cx="3474720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97680" y="2011680"/>
            <a:ext cx="3474720" cy="889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24028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59E0B"/>
                </a:solidFill>
              </a:rPr>
              <a:t>SOLUSI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FFFFFF"/>
                </a:solidFill>
              </a:rPr>
              <a:t>Satu pintu Texora Suite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</a:rPr>
              <a:t>•  Publik melihat &amp; percaya → Web Publish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</a:rPr>
              <a:t>•  Pelanggan pesan &amp; bayar sendiri → E-Commerce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</a:rPr>
              <a:t>•  Internal memproses &amp; mencatat → App Transaksi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011680"/>
            <a:ext cx="3566160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0" y="2011680"/>
            <a:ext cx="3566160" cy="889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224028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0B981"/>
                </a:solidFill>
              </a:rPr>
              <a:t>DAMPAK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FFFFFF"/>
                </a:solidFill>
              </a:rPr>
              <a:t>Yang kita kejar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</a:rPr>
              <a:t>•  Lead → order → kirim → lunas tercatat penuh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</a:rPr>
              <a:t>•  Keputusan berbasis data, bukan perkiraan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</a:rPr>
              <a:t>•  Siap skala B2B + B2C sekaligus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PT. Texora Visi Prima  •  Texora Suite  •  Okt 2026                                          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03  •  FUNGSI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Web Publish — etalase &amp; kepercayaan publik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Tujuan: orang kenal, percaya, lalu tertarik menghubungi / membeli.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59E0B"/>
                </a:solidFill>
              </a:rPr>
              <a:t>▸  </a:t>
            </a:r>
            <a:r>
              <a:rPr sz="1400" b="1">
                <a:solidFill>
                  <a:srgbClr val="FFFFFF"/>
                </a:solidFill>
              </a:rPr>
              <a:t>Beranda perusahaan</a:t>
            </a:r>
            <a:r>
              <a:rPr sz="1400">
                <a:solidFill>
                  <a:srgbClr val="94A3B8"/>
                </a:solidFill>
              </a:rPr>
              <a:t>  —  profil PT. Texora Visi Prima, keunggulan kain sublimasi, tautan sosmed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59E0B"/>
                </a:solidFill>
              </a:rPr>
              <a:t>▸  </a:t>
            </a:r>
            <a:r>
              <a:rPr sz="1400" b="1">
                <a:solidFill>
                  <a:srgbClr val="FFFFFF"/>
                </a:solidFill>
              </a:rPr>
              <a:t>Katalog publik + detail produk</a:t>
            </a:r>
            <a:r>
              <a:rPr sz="1400">
                <a:solidFill>
                  <a:srgbClr val="94A3B8"/>
                </a:solidFill>
              </a:rPr>
              <a:t>  —  komposisi, GSM, lebar kain, tier harga grosir per meter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59E0B"/>
                </a:solidFill>
              </a:rPr>
              <a:t>▸  </a:t>
            </a:r>
            <a:r>
              <a:rPr sz="1400" b="1">
                <a:solidFill>
                  <a:srgbClr val="FFFFFF"/>
                </a:solidFill>
              </a:rPr>
              <a:t>Simulasi custom sublimasi</a:t>
            </a:r>
            <a:r>
              <a:rPr sz="1400">
                <a:solidFill>
                  <a:srgbClr val="94A3B8"/>
                </a:solidFill>
              </a:rPr>
              <a:t>  —  upload artwork, cek DPI &amp; estimasi kebutuhan meter — pemancing order custom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59E0B"/>
                </a:solidFill>
              </a:rPr>
              <a:t>▸  </a:t>
            </a:r>
            <a:r>
              <a:rPr sz="1400" b="1">
                <a:solidFill>
                  <a:srgbClr val="FFFFFF"/>
                </a:solidFill>
              </a:rPr>
              <a:t>Tentang &amp; Kontak</a:t>
            </a:r>
            <a:r>
              <a:rPr sz="1400">
                <a:solidFill>
                  <a:srgbClr val="94A3B8"/>
                </a:solidFill>
              </a:rPr>
              <a:t>  —  alamat, WhatsApp, formulir inquiry yang masuk ke pipeline sales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59E0B"/>
                </a:solidFill>
              </a:rPr>
              <a:t>▸  </a:t>
            </a:r>
            <a:r>
              <a:rPr sz="1400" b="1">
                <a:solidFill>
                  <a:srgbClr val="FFFFFF"/>
                </a:solidFill>
              </a:rPr>
              <a:t>Lacak order (track-order)</a:t>
            </a:r>
            <a:r>
              <a:rPr sz="1400">
                <a:solidFill>
                  <a:srgbClr val="94A3B8"/>
                </a:solidFill>
              </a:rPr>
              <a:t>  —  pelanggan cek status pesanan sendiri tanpa tanya admin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59E0B"/>
                </a:solidFill>
              </a:rPr>
              <a:t>▸  </a:t>
            </a:r>
            <a:r>
              <a:rPr sz="1400" b="1">
                <a:solidFill>
                  <a:srgbClr val="FFFFFF"/>
                </a:solidFill>
              </a:rPr>
              <a:t>Login / Register</a:t>
            </a:r>
            <a:r>
              <a:rPr sz="1400">
                <a:solidFill>
                  <a:srgbClr val="94A3B8"/>
                </a:solidFill>
              </a:rPr>
              <a:t>  —  pintu masuk pelanggan ke area E-Commerce &amp; dashboard pelanggan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PT. Texora Visi Prima  •  Texora Suite  •  Okt 2026                                          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04  •  FUNGSI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E-Commerce — pelanggan pesan &amp; bayar mandiri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Tujuan: order masuk 24 jam tanpa admin, pembayaran terverifikasi otomatis.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59E0B"/>
                </a:solidFill>
              </a:rPr>
              <a:t>▸  </a:t>
            </a:r>
            <a:r>
              <a:rPr sz="1400" b="1">
                <a:solidFill>
                  <a:srgbClr val="FFFFFF"/>
                </a:solidFill>
              </a:rPr>
              <a:t>Katalog + harga tier</a:t>
            </a:r>
            <a:r>
              <a:rPr sz="1400">
                <a:solidFill>
                  <a:srgbClr val="94A3B8"/>
                </a:solidFill>
              </a:rPr>
              <a:t>  —  makin banyak meter, makin murah — mendorong pembelian grosir/B2B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59E0B"/>
                </a:solidFill>
              </a:rPr>
              <a:t>▸  </a:t>
            </a:r>
            <a:r>
              <a:rPr sz="1400" b="1">
                <a:solidFill>
                  <a:srgbClr val="FFFFFF"/>
                </a:solidFill>
              </a:rPr>
              <a:t>Keranjang &amp; checkout</a:t>
            </a:r>
            <a:r>
              <a:rPr sz="1400">
                <a:solidFill>
                  <a:srgbClr val="94A3B8"/>
                </a:solidFill>
              </a:rPr>
              <a:t>  —  hitung ongkir, pajak, total otomatis; order tercatat sebagai SPK awal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59E0B"/>
                </a:solidFill>
              </a:rPr>
              <a:t>▸  </a:t>
            </a:r>
            <a:r>
              <a:rPr sz="1400" b="1">
                <a:solidFill>
                  <a:srgbClr val="FFFFFF"/>
                </a:solidFill>
              </a:rPr>
              <a:t>Pembayaran digital (Midtrans/Xendit)</a:t>
            </a:r>
            <a:r>
              <a:rPr sz="1400">
                <a:solidFill>
                  <a:srgbClr val="94A3B8"/>
                </a:solidFill>
              </a:rPr>
              <a:t>  —  VA bank, QRIS, e-wallet — status PAID/UNPAID terpantau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59E0B"/>
                </a:solidFill>
              </a:rPr>
              <a:t>▸  </a:t>
            </a:r>
            <a:r>
              <a:rPr sz="1400" b="1">
                <a:solidFill>
                  <a:srgbClr val="FFFFFF"/>
                </a:solidFill>
              </a:rPr>
              <a:t>Custom order sublimasi</a:t>
            </a:r>
            <a:r>
              <a:rPr sz="1400">
                <a:solidFill>
                  <a:srgbClr val="94A3B8"/>
                </a:solidFill>
              </a:rPr>
              <a:t>  —  desain pelanggan → digital proofing → approval → produksi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59E0B"/>
                </a:solidFill>
              </a:rPr>
              <a:t>▸  </a:t>
            </a:r>
            <a:r>
              <a:rPr sz="1400" b="1">
                <a:solidFill>
                  <a:srgbClr val="FFFFFF"/>
                </a:solidFill>
              </a:rPr>
              <a:t>Dashboard pelanggan</a:t>
            </a:r>
            <a:r>
              <a:rPr sz="1400">
                <a:solidFill>
                  <a:srgbClr val="94A3B8"/>
                </a:solidFill>
              </a:rPr>
              <a:t>  —  riwayat order, status produksi, unduh invoice sendiri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59E0B"/>
                </a:solidFill>
              </a:rPr>
              <a:t>▸  </a:t>
            </a:r>
            <a:r>
              <a:rPr sz="1400" b="1">
                <a:solidFill>
                  <a:srgbClr val="FFFFFF"/>
                </a:solidFill>
              </a:rPr>
              <a:t>Lacak order + notifikasi WA</a:t>
            </a:r>
            <a:r>
              <a:rPr sz="1400">
                <a:solidFill>
                  <a:srgbClr val="94A3B8"/>
                </a:solidFill>
              </a:rPr>
              <a:t>  —  transparansi status: produksi → QC → kirim → selesai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PT. Texora Visi Prima  •  Texora Suite  •  Okt 2026                                          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05  •  FUNGSI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App Transaksi Internal — dapur operasional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Tujuan: setiap rupiah &amp; meter kain tercatat, setiap tugas ada pemiliknya. 9 modul: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5486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59E0B"/>
                </a:solidFill>
              </a:rPr>
              <a:t>▸  </a:t>
            </a:r>
            <a:r>
              <a:rPr sz="1300" b="1">
                <a:solidFill>
                  <a:srgbClr val="FFFFFF"/>
                </a:solidFill>
              </a:rPr>
              <a:t>Dashboard Analitik</a:t>
            </a:r>
            <a:r>
              <a:rPr sz="1300">
                <a:solidFill>
                  <a:srgbClr val="94A3B8"/>
                </a:solidFill>
              </a:rPr>
              <a:t>  —  ringkasan omzet, order, stok dalam satu layar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59E0B"/>
                </a:solidFill>
              </a:rPr>
              <a:t>▸  </a:t>
            </a:r>
            <a:r>
              <a:rPr sz="1300" b="1">
                <a:solidFill>
                  <a:srgbClr val="FFFFFF"/>
                </a:solidFill>
              </a:rPr>
              <a:t>CRM &amp; Social Listening</a:t>
            </a:r>
            <a:r>
              <a:rPr sz="1300">
                <a:solidFill>
                  <a:srgbClr val="94A3B8"/>
                </a:solidFill>
              </a:rPr>
              <a:t>  —  WA inbox, webmail, pipeline leads, sentimen sosmed + AI reply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59E0B"/>
                </a:solidFill>
              </a:rPr>
              <a:t>▸  </a:t>
            </a:r>
            <a:r>
              <a:rPr sz="1300" b="1">
                <a:solidFill>
                  <a:srgbClr val="FFFFFF"/>
                </a:solidFill>
              </a:rPr>
              <a:t>OMS / Pesanan &amp; SPK</a:t>
            </a:r>
            <a:r>
              <a:rPr sz="1300">
                <a:solidFill>
                  <a:srgbClr val="94A3B8"/>
                </a:solidFill>
              </a:rPr>
              <a:t>  —  antrean produksi, approval proofing, faktur + PPN CoreTax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59E0B"/>
                </a:solidFill>
              </a:rPr>
              <a:t>▸  </a:t>
            </a:r>
            <a:r>
              <a:rPr sz="1300" b="1">
                <a:solidFill>
                  <a:srgbClr val="FFFFFF"/>
                </a:solidFill>
              </a:rPr>
              <a:t>Gudang &amp; Logistik</a:t>
            </a:r>
            <a:r>
              <a:rPr sz="1300">
                <a:solidFill>
                  <a:srgbClr val="94A3B8"/>
                </a:solidFill>
              </a:rPr>
              <a:t>  —  stok roll + barcode, potong kain, manifest ekspedisi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59E0B"/>
                </a:solidFill>
              </a:rPr>
              <a:t>▸  </a:t>
            </a:r>
            <a:r>
              <a:rPr sz="1300" b="1">
                <a:solidFill>
                  <a:srgbClr val="FFFFFF"/>
                </a:solidFill>
              </a:rPr>
              <a:t>Purchasing &amp; Supplier</a:t>
            </a:r>
            <a:r>
              <a:rPr sz="1300">
                <a:solidFill>
                  <a:srgbClr val="94A3B8"/>
                </a:solidFill>
              </a:rPr>
              <a:t>  —  PR → PO → terima barang → hutang supplier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92024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59E0B"/>
                </a:solidFill>
              </a:rPr>
              <a:t>▸  </a:t>
            </a:r>
            <a:r>
              <a:rPr sz="1300" b="1">
                <a:solidFill>
                  <a:srgbClr val="FFFFFF"/>
                </a:solidFill>
              </a:rPr>
              <a:t>Finance &amp; Akuntansi</a:t>
            </a:r>
            <a:r>
              <a:rPr sz="1300">
                <a:solidFill>
                  <a:srgbClr val="94A3B8"/>
                </a:solidFill>
              </a:rPr>
              <a:t>  —  jurnal, AR/AP aging, arus kas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59E0B"/>
                </a:solidFill>
              </a:rPr>
              <a:t>▸  </a:t>
            </a:r>
            <a:r>
              <a:rPr sz="1300" b="1">
                <a:solidFill>
                  <a:srgbClr val="FFFFFF"/>
                </a:solidFill>
              </a:rPr>
              <a:t>Laporan Penjualan</a:t>
            </a:r>
            <a:r>
              <a:rPr sz="1300">
                <a:solidFill>
                  <a:srgbClr val="94A3B8"/>
                </a:solidFill>
              </a:rPr>
              <a:t>  —  rekap sales per periode, per sales, per produk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59E0B"/>
                </a:solidFill>
              </a:rPr>
              <a:t>▸  </a:t>
            </a:r>
            <a:r>
              <a:rPr sz="1300" b="1">
                <a:solidFill>
                  <a:srgbClr val="FFFFFF"/>
                </a:solidFill>
              </a:rPr>
              <a:t>Katalog &amp; Harga</a:t>
            </a:r>
            <a:r>
              <a:rPr sz="1300">
                <a:solidFill>
                  <a:srgbClr val="94A3B8"/>
                </a:solidFill>
              </a:rPr>
              <a:t>  —  kelola produk, varian GSM, tier harga — sekali ubah, tampil di web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59E0B"/>
                </a:solidFill>
              </a:rPr>
              <a:t>▸  </a:t>
            </a:r>
            <a:r>
              <a:rPr sz="1300" b="1">
                <a:solidFill>
                  <a:srgbClr val="FFFFFF"/>
                </a:solidFill>
              </a:rPr>
              <a:t>Pengaturan &amp; Audit</a:t>
            </a:r>
            <a:r>
              <a:rPr sz="1300">
                <a:solidFill>
                  <a:srgbClr val="94A3B8"/>
                </a:solidFill>
              </a:rPr>
              <a:t>  —  role (admin/sales/gudang), 2FA, jejak aktivitas pengguna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PT. Texora Visi Prima  •  Texora Suite  •  Okt 2026                                          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06  •  MODUL UNGGULAN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CRM — tidak ada chat &amp; prospek yang hilang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Semua pintu masuk pelanggan bermuara ke satu pipeline.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3474720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011680"/>
            <a:ext cx="3474720" cy="889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4028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0B981"/>
                </a:solidFill>
              </a:rPr>
              <a:t>SOSIAL &amp; CHAT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FFFFFF"/>
                </a:solidFill>
              </a:rPr>
              <a:t>Tangkap prospek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</a:rPr>
              <a:t>•  Social listening TikTok/IG/FB + skor sentimen &amp; saran balasan AI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</a:rPr>
              <a:t>•  WhatsApp inbox + webmail sales terpusat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</a:rPr>
              <a:t>•  Komentar berniat beli → 1 klik jadi Lead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011680"/>
            <a:ext cx="3474720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97680" y="2011680"/>
            <a:ext cx="3474720" cy="8890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24028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8BDF8"/>
                </a:solidFill>
              </a:rPr>
              <a:t>PIPELINE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FFFFFF"/>
                </a:solidFill>
              </a:rPr>
              <a:t>Kawal sampai closing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</a:rPr>
              <a:t>•  Tahapan: inquiry → kebutuhan → quotation → negosiasi → WON/LOST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</a:rPr>
              <a:t>•  Estimasi nilai &amp; penanggung jawab sales per deal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</a:rPr>
              <a:t>•  Riwayat aktivitas: call, WA, meeting, kirim sampel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011680"/>
            <a:ext cx="3566160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0" y="2011680"/>
            <a:ext cx="3566160" cy="889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224028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59E0B"/>
                </a:solidFill>
              </a:rPr>
              <a:t>DATABASE 360°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FFFFFF"/>
                </a:solidFill>
              </a:rPr>
              <a:t>Kenal pelanggan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</a:rPr>
              <a:t>•  Profil + NPWP + histori order &amp; piutang per perusahaan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</a:rPr>
              <a:t>•  Segmentasi B2B garmen vs retail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</a:rPr>
              <a:t>•  Bahan upsell &amp; repeat order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PT. Texora Visi Prima  •  Texora Suite  •  Okt 2026                                          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07  •  MODUL UNGGULAN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OMS — dari order sampai barang terkirim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Jantung produksi sublimasi: tertib, terdokumentasi, bisa diaudit.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59E0B"/>
                </a:solidFill>
              </a:rPr>
              <a:t>▸  </a:t>
            </a:r>
            <a:r>
              <a:rPr sz="1400" b="1">
                <a:solidFill>
                  <a:srgbClr val="FFFFFF"/>
                </a:solidFill>
              </a:rPr>
              <a:t>Antrean SPK &amp; tahapan pabrik</a:t>
            </a:r>
            <a:r>
              <a:rPr sz="1400">
                <a:solidFill>
                  <a:srgbClr val="94A3B8"/>
                </a:solidFill>
              </a:rPr>
              <a:t>  —  payment → produksi/print → QC → siap kirim → terkirim → selesai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59E0B"/>
                </a:solidFill>
              </a:rPr>
              <a:t>▸  </a:t>
            </a:r>
            <a:r>
              <a:rPr sz="1400" b="1">
                <a:solidFill>
                  <a:srgbClr val="FFFFFF"/>
                </a:solidFill>
              </a:rPr>
              <a:t>Approval digital proof</a:t>
            </a:r>
            <a:r>
              <a:rPr sz="1400">
                <a:solidFill>
                  <a:srgbClr val="94A3B8"/>
                </a:solidFill>
              </a:rPr>
              <a:t>  —  desain custom disetujui pelanggan sebelum cetak — nol salah cetak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59E0B"/>
                </a:solidFill>
              </a:rPr>
              <a:t>▸  </a:t>
            </a:r>
            <a:r>
              <a:rPr sz="1400" b="1">
                <a:solidFill>
                  <a:srgbClr val="FFFFFF"/>
                </a:solidFill>
              </a:rPr>
              <a:t>Faktur &amp; PPN CoreTax</a:t>
            </a:r>
            <a:r>
              <a:rPr sz="1400">
                <a:solidFill>
                  <a:srgbClr val="94A3B8"/>
                </a:solidFill>
              </a:rPr>
              <a:t>  —  invoice otomatis dari order, siap lapor pajak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59E0B"/>
                </a:solidFill>
              </a:rPr>
              <a:t>▸  </a:t>
            </a:r>
            <a:r>
              <a:rPr sz="1400" b="1">
                <a:solidFill>
                  <a:srgbClr val="FFFFFF"/>
                </a:solidFill>
              </a:rPr>
              <a:t>Detail SPK per item</a:t>
            </a:r>
            <a:r>
              <a:rPr sz="1400">
                <a:solidFill>
                  <a:srgbClr val="94A3B8"/>
                </a:solidFill>
              </a:rPr>
              <a:t>  —  varian GSM, panjang meter, desain, harga — transparan untuk audit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59E0B"/>
                </a:solidFill>
              </a:rPr>
              <a:t>▸  </a:t>
            </a:r>
            <a:r>
              <a:rPr sz="1400" b="1">
                <a:solidFill>
                  <a:srgbClr val="FFFFFF"/>
                </a:solidFill>
              </a:rPr>
              <a:t>Terhubung gudang &amp; ekspedisi</a:t>
            </a:r>
            <a:r>
              <a:rPr sz="1400">
                <a:solidFill>
                  <a:srgbClr val="94A3B8"/>
                </a:solidFill>
              </a:rPr>
              <a:t>  —  potong roll, resi kargo, serah terima tercatat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PT. Texora Visi Prima  •  Texora Suite  •  Okt 2026                                          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08  •  MODUL UNGGULAN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Gudang, Purchasing &amp; Finance — uang &amp; barang klop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Tiga modul yang saling mengunci: barang masuk = stok naik = hutang tercatat.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3474720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011680"/>
            <a:ext cx="3474720" cy="889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4028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59E0B"/>
                </a:solidFill>
              </a:rPr>
              <a:t>GUDANG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FFFFFF"/>
                </a:solidFill>
              </a:rPr>
              <a:t>Stok roll presisi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</a:rPr>
              <a:t>•  Kartu stok per barcode roll &amp; sisa meter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</a:rPr>
              <a:t>•  Simulasi scan handheld + potong kain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</a:rPr>
              <a:t>•  Sisa di bawah ambang → sinyal beli otomatis (PR)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011680"/>
            <a:ext cx="3474720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97680" y="2011680"/>
            <a:ext cx="3474720" cy="8890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24028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8BDF8"/>
                </a:solidFill>
              </a:rPr>
              <a:t>PURCHASING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FFFFFF"/>
                </a:solidFill>
              </a:rPr>
              <a:t>Beli terkendali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</a:rPr>
              <a:t>•  Alur PR → approval → PO → terima (GRN)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</a:rPr>
              <a:t>•  Rekap pembelian per supplier + sisa hutang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</a:rPr>
              <a:t>•  Evaluasi supplier: harga, lead time, rating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011680"/>
            <a:ext cx="3566160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0" y="2011680"/>
            <a:ext cx="3566160" cy="889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224028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0B981"/>
                </a:solidFill>
              </a:rPr>
              <a:t>FINANCE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FFFFFF"/>
                </a:solidFill>
              </a:rPr>
              <a:t>Kas sehat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</a:rPr>
              <a:t>•  Jurnal umum + buku besar per akun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</a:rPr>
              <a:t>•  Piutang (AR) &amp; hutang (AP) aging + pengingat tempo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</a:rPr>
              <a:t>•  Laporan laba-rugi &amp; arus kas siap direksi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PT. Texora Visi Prima  •  Texora Suite  •  Okt 2026                                          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09  •  CARA KERJA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Satu order, mengalir otomatis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Contoh: konveksi pesan 2.000 m Dryfit Milano via web.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1691640" cy="3291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103120"/>
            <a:ext cx="1691640" cy="8890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1234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8BDF8"/>
                </a:solidFill>
              </a:rPr>
              <a:t>LANGKAH 1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</a:rPr>
              <a:t>•  Pelanggan checkout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</a:rPr>
              <a:t>•  &amp; bayar QRIS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59" y="2103120"/>
            <a:ext cx="1691640" cy="3291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423159" y="2103120"/>
            <a:ext cx="1691640" cy="889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59" y="2331720"/>
            <a:ext cx="1234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59E0B"/>
                </a:solidFill>
              </a:rPr>
              <a:t>LANGKAH 2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</a:rPr>
              <a:t>•  SPK terbit &amp;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</a:rPr>
              <a:t>•  antre produksi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78" y="2103120"/>
            <a:ext cx="1691640" cy="3291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97678" y="2103120"/>
            <a:ext cx="1691640" cy="8890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78" y="2331720"/>
            <a:ext cx="1234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A78BFA"/>
                </a:solidFill>
              </a:rPr>
              <a:t>LANGKAH 3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</a:rPr>
              <a:t>•  Proofing disetujui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</a:rPr>
              <a:t>•  → cetak sublim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197" y="2103120"/>
            <a:ext cx="1691640" cy="3291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72197" y="2103120"/>
            <a:ext cx="1691640" cy="889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797" y="2331720"/>
            <a:ext cx="1234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0B981"/>
                </a:solidFill>
              </a:rPr>
              <a:t>LANGKAH 4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</a:rPr>
              <a:t>•  QC → potong roll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</a:rPr>
              <a:t>•  → packing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6" y="2103120"/>
            <a:ext cx="1691640" cy="3291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46716" y="2103120"/>
            <a:ext cx="1691640" cy="8890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16" y="2331720"/>
            <a:ext cx="1234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8BDF8"/>
                </a:solidFill>
              </a:rPr>
              <a:t>LANGKAH 5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</a:rPr>
              <a:t>•  Kirim + resi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</a:rPr>
              <a:t>•  bisa dilacak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21235" y="2103120"/>
            <a:ext cx="1691640" cy="3291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921235" y="2103120"/>
            <a:ext cx="1691640" cy="889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49835" y="2331720"/>
            <a:ext cx="1234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0B981"/>
                </a:solidFill>
              </a:rPr>
              <a:t>LANGKAH 6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</a:rPr>
              <a:t>•  Invoice + PPN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</a:rPr>
              <a:t>•  → lunas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Setiap langkah tercatat pelakunya (audit log) — bisa ditelusur siapa, kapan, mengubah apa.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PT. Texora Visi Prima  •  Texora Suite  •  Okt 2026                                          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10  •  FONDASI TEKNIS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Terhubung &amp; aman sejak hari pertama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Bukan sistem pulau — siap disambung ke layanan yang sudah dipakai.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5486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59E0B"/>
                </a:solidFill>
              </a:rPr>
              <a:t>▸  </a:t>
            </a:r>
            <a:r>
              <a:rPr sz="1300" b="1">
                <a:solidFill>
                  <a:srgbClr val="FFFFFF"/>
                </a:solidFill>
              </a:rPr>
              <a:t>Pembayaran Midtrans/Xendit</a:t>
            </a:r>
            <a:r>
              <a:rPr sz="1300">
                <a:solidFill>
                  <a:srgbClr val="94A3B8"/>
                </a:solidFill>
              </a:rPr>
              <a:t>  —  VA, QRIS, e-wallet + webhook status otomatis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59E0B"/>
                </a:solidFill>
              </a:rPr>
              <a:t>▸  </a:t>
            </a:r>
            <a:r>
              <a:rPr sz="1300" b="1">
                <a:solidFill>
                  <a:srgbClr val="FFFFFF"/>
                </a:solidFill>
              </a:rPr>
              <a:t>WhatsApp Fonnte / Meta</a:t>
            </a:r>
            <a:r>
              <a:rPr sz="1300">
                <a:solidFill>
                  <a:srgbClr val="94A3B8"/>
                </a:solidFill>
              </a:rPr>
              <a:t>  —  notifikasi order, follow-up lead, CS inbox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59E0B"/>
                </a:solidFill>
              </a:rPr>
              <a:t>▸  </a:t>
            </a:r>
            <a:r>
              <a:rPr sz="1300" b="1">
                <a:solidFill>
                  <a:srgbClr val="FFFFFF"/>
                </a:solidFill>
              </a:rPr>
              <a:t>AI Gemini</a:t>
            </a:r>
            <a:r>
              <a:rPr sz="1300">
                <a:solidFill>
                  <a:srgbClr val="94A3B8"/>
                </a:solidFill>
              </a:rPr>
              <a:t>  —  analisis sentimen &amp; saran balasan komentar sosmed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59E0B"/>
                </a:solidFill>
              </a:rPr>
              <a:t>▸  </a:t>
            </a:r>
            <a:r>
              <a:rPr sz="1300" b="1">
                <a:solidFill>
                  <a:srgbClr val="FFFFFF"/>
                </a:solidFill>
              </a:rPr>
              <a:t>Webhook ERP &amp; sosmed</a:t>
            </a:r>
            <a:r>
              <a:rPr sz="1300">
                <a:solidFill>
                  <a:srgbClr val="94A3B8"/>
                </a:solidFill>
              </a:rPr>
              <a:t>  —  TikTok/Meta events, sinkron data eksternal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92024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59E0B"/>
                </a:solidFill>
              </a:rPr>
              <a:t>▸  </a:t>
            </a:r>
            <a:r>
              <a:rPr sz="1300" b="1">
                <a:solidFill>
                  <a:srgbClr val="FFFFFF"/>
                </a:solidFill>
              </a:rPr>
              <a:t>Role &amp; hak akses (RBAC)</a:t>
            </a:r>
            <a:r>
              <a:rPr sz="1300">
                <a:solidFill>
                  <a:srgbClr val="94A3B8"/>
                </a:solidFill>
              </a:rPr>
              <a:t>  —  admin, sales, gudang — tiap peran lihat menunya sendiri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59E0B"/>
                </a:solidFill>
              </a:rPr>
              <a:t>▸  </a:t>
            </a:r>
            <a:r>
              <a:rPr sz="1300" b="1">
                <a:solidFill>
                  <a:srgbClr val="FFFFFF"/>
                </a:solidFill>
              </a:rPr>
              <a:t>Audit log + 2FA admin</a:t>
            </a:r>
            <a:r>
              <a:rPr sz="1300">
                <a:solidFill>
                  <a:srgbClr val="94A3B8"/>
                </a:solidFill>
              </a:rPr>
              <a:t>  —  jejak perubahan + lapis keamanan akun penting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59E0B"/>
                </a:solidFill>
              </a:rPr>
              <a:t>▸  </a:t>
            </a:r>
            <a:r>
              <a:rPr sz="1300" b="1">
                <a:solidFill>
                  <a:srgbClr val="FFFFFF"/>
                </a:solidFill>
              </a:rPr>
              <a:t>PostgreSQL + deploy Vercel</a:t>
            </a:r>
            <a:r>
              <a:rPr sz="1300">
                <a:solidFill>
                  <a:srgbClr val="94A3B8"/>
                </a:solidFill>
              </a:rPr>
              <a:t>  —  database relasional andal, rilis cepat &amp; termonitor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PT. Texora Visi Prima  •  Texora Suite  •  Okt 2026                                          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11  •  NILAI BISNIS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Apa yang didapat perusahaan?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Bahasa direksi: lebih cepat, lebih hemat, lebih terkontrol.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59E0B"/>
                </a:solidFill>
              </a:rPr>
              <a:t>▸  </a:t>
            </a:r>
            <a:r>
              <a:rPr sz="1400" b="1">
                <a:solidFill>
                  <a:srgbClr val="FFFFFF"/>
                </a:solidFill>
              </a:rPr>
              <a:t>Order 24/7 tanpa tambah admin</a:t>
            </a:r>
            <a:r>
              <a:rPr sz="1400">
                <a:solidFill>
                  <a:srgbClr val="94A3B8"/>
                </a:solidFill>
              </a:rPr>
              <a:t>  —  toko online + pembayaran otomatis menangkap order di luar jam kerja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59E0B"/>
                </a:solidFill>
              </a:rPr>
              <a:t>▸  </a:t>
            </a:r>
            <a:r>
              <a:rPr sz="1400" b="1">
                <a:solidFill>
                  <a:srgbClr val="FFFFFF"/>
                </a:solidFill>
              </a:rPr>
              <a:t>Siklus quotation → produksi lebih pendek</a:t>
            </a:r>
            <a:r>
              <a:rPr sz="1400">
                <a:solidFill>
                  <a:srgbClr val="94A3B8"/>
                </a:solidFill>
              </a:rPr>
              <a:t>  —  proofing digital &amp; SPK terstruktur memangkas bolak-balik revisi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59E0B"/>
                </a:solidFill>
              </a:rPr>
              <a:t>▸  </a:t>
            </a:r>
            <a:r>
              <a:rPr sz="1400" b="1">
                <a:solidFill>
                  <a:srgbClr val="FFFFFF"/>
                </a:solidFill>
              </a:rPr>
              <a:t>Kebocoran stok &amp; piutang ketahuan dini</a:t>
            </a:r>
            <a:r>
              <a:rPr sz="1400">
                <a:solidFill>
                  <a:srgbClr val="94A3B8"/>
                </a:solidFill>
              </a:rPr>
              <a:t>  —  stok per roll + aging AR/AP memberi peringatan sebelum jadi masalah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59E0B"/>
                </a:solidFill>
              </a:rPr>
              <a:t>▸  </a:t>
            </a:r>
            <a:r>
              <a:rPr sz="1400" b="1">
                <a:solidFill>
                  <a:srgbClr val="FFFFFF"/>
                </a:solidFill>
              </a:rPr>
              <a:t>Data untuk negosiasi supplier</a:t>
            </a:r>
            <a:r>
              <a:rPr sz="1400">
                <a:solidFill>
                  <a:srgbClr val="94A3B8"/>
                </a:solidFill>
              </a:rPr>
              <a:t>  —  rekap pembelian per supplier = posisi tawar harga &amp; termin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59E0B"/>
                </a:solidFill>
              </a:rPr>
              <a:t>▸  </a:t>
            </a:r>
            <a:r>
              <a:rPr sz="1400" b="1">
                <a:solidFill>
                  <a:srgbClr val="FFFFFF"/>
                </a:solidFill>
              </a:rPr>
              <a:t>Siap diaudit &amp; siap skala</a:t>
            </a:r>
            <a:r>
              <a:rPr sz="1400">
                <a:solidFill>
                  <a:srgbClr val="94A3B8"/>
                </a:solidFill>
              </a:rPr>
              <a:t>  —  faktur pajak, jurnal, dan jejak audit memenuhi syarat kepatuhan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PT. Texora Visi Prima  •  Texora Suite  •  Okt 2026                                          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12  •  PENUTUP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Mari lihat langsung sistemnya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Usulan agenda demo live (±20 menit):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6583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59E0B"/>
                </a:solidFill>
              </a:rPr>
              <a:t>▸  </a:t>
            </a:r>
            <a:r>
              <a:rPr sz="1400" b="1">
                <a:solidFill>
                  <a:srgbClr val="FFFFFF"/>
                </a:solidFill>
              </a:rPr>
              <a:t>1. Web publish</a:t>
            </a:r>
            <a:r>
              <a:rPr sz="1400">
                <a:solidFill>
                  <a:srgbClr val="94A3B8"/>
                </a:solidFill>
              </a:rPr>
              <a:t>  —  buka katalog → simulasi custom → lacak order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59E0B"/>
                </a:solidFill>
              </a:rPr>
              <a:t>▸  </a:t>
            </a:r>
            <a:r>
              <a:rPr sz="1400" b="1">
                <a:solidFill>
                  <a:srgbClr val="FFFFFF"/>
                </a:solidFill>
              </a:rPr>
              <a:t>2. E-commerce</a:t>
            </a:r>
            <a:r>
              <a:rPr sz="1400">
                <a:solidFill>
                  <a:srgbClr val="94A3B8"/>
                </a:solidFill>
              </a:rPr>
              <a:t>  —  tambah keranjang → checkout → bayar (sandbox)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59E0B"/>
                </a:solidFill>
              </a:rPr>
              <a:t>▸  </a:t>
            </a:r>
            <a:r>
              <a:rPr sz="1400" b="1">
                <a:solidFill>
                  <a:srgbClr val="FFFFFF"/>
                </a:solidFill>
              </a:rPr>
              <a:t>3. App internal</a:t>
            </a:r>
            <a:r>
              <a:rPr sz="1400">
                <a:solidFill>
                  <a:srgbClr val="94A3B8"/>
                </a:solidFill>
              </a:rPr>
              <a:t>  —  WA/prospek → SPK → approval → GRN → invoice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59E0B"/>
                </a:solidFill>
              </a:rPr>
              <a:t>▸  </a:t>
            </a:r>
            <a:r>
              <a:rPr sz="1400" b="1">
                <a:solidFill>
                  <a:srgbClr val="FFFFFF"/>
                </a:solidFill>
              </a:rPr>
              <a:t>Diskusi</a:t>
            </a:r>
            <a:r>
              <a:rPr sz="1400">
                <a:solidFill>
                  <a:srgbClr val="94A3B8"/>
                </a:solidFill>
              </a:rPr>
              <a:t>  —  modul prioritas go-live + kebutuhan data awal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2011680"/>
            <a:ext cx="4023360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589520" y="2011680"/>
            <a:ext cx="4023360" cy="889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2240280"/>
            <a:ext cx="3566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0B981"/>
                </a:solidFill>
              </a:rPr>
              <a:t>NEXT STEP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FFFFFF"/>
                </a:solidFill>
              </a:rPr>
              <a:t>Keputusan yang dibutuhkan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</a:rPr>
              <a:t>•  Setuju 3 fungsi go-live bertahap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</a:rPr>
              <a:t>•  Tunjuk PIC data: produk, harga, supplier, pelanggan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</a:rPr>
              <a:t>•  Jadwal training admin / sales / gudang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